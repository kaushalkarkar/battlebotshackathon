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7CD66-92AF-4EA2-ABF1-CBC6115D3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FC77F6-0146-409F-9C9D-6E4B3CCAC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CDA21-134F-4DFB-B0D7-AF7F5D13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1502-308B-42E6-B21F-C1F85668688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69594-B842-413A-9A69-CD28CFE2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62CD6-6F03-4FC8-A186-C0316D8E9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D9DF-E254-47AB-B10F-F67483C51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346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645A7-4670-4ADF-AFA5-C4D1EDA6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8D018-E96C-4AAF-9978-478749A29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68138-C96D-4A5B-A7DE-F3AE4875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1502-308B-42E6-B21F-C1F85668688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ED8D4-F91C-4F3F-BEE7-C54079408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31C58-0F95-4B04-AE24-234B54059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D9DF-E254-47AB-B10F-F67483C51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749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98795-CDA4-4872-90C6-84E3BA219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BED40-112E-4BFB-AED7-17533E0CD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01563-FA3A-45AA-B399-B5A1AADFE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1502-308B-42E6-B21F-C1F85668688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F0885-929C-478B-BB89-EFA53854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DFA08-2539-4BB6-83FB-670EDE0F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D9DF-E254-47AB-B10F-F67483C51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50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427E-D260-46B8-B04C-A5C8B34F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E69F2-A1FC-46A7-AE2E-207B8332C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45C46-E5C8-413C-9EFF-29E7F3F14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B7EC3-B09F-4194-9452-4C32D7BD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1502-308B-42E6-B21F-C1F85668688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4CBA1-2326-45E3-9D55-BFC64C50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736B9-8643-4C85-878C-CFA1C0F5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D9DF-E254-47AB-B10F-F67483C51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200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AA204-3792-4C13-9F80-A4DE2AF1C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3DF37-720B-4FDE-8B69-1BAEF1A5E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6362F-B847-47DF-840B-FEAECCF8D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E1F95B-5B80-498F-A816-73CE9569E9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03E574-B2DE-4316-9953-AA3F94A2F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FEF988-F939-4DA2-B623-042874AE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1502-308B-42E6-B21F-C1F85668688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D7BEAD-5014-4A42-9267-5CC74AD41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9D2FB8-04F5-462C-9580-113486E51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D9DF-E254-47AB-B10F-F67483C51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811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A093A-BB81-4957-8C8E-8F546A484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334B03-7B3B-40D1-B521-0F4D57A7E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1502-308B-42E6-B21F-C1F85668688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730A5-8254-4183-832C-142C055BF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83F8B-9175-4839-AC68-64025848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D9DF-E254-47AB-B10F-F67483C51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006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26E653-3F90-4377-B08A-E5B142D72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1502-308B-42E6-B21F-C1F85668688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730FE-CA1A-4CFA-AFC3-1B052AB8A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FAD21-62A0-4ABF-A90B-638DA2006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D9DF-E254-47AB-B10F-F67483C51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064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1489-66C3-4E53-8127-613A58538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901F2-6B9F-43EB-8EF6-E6272CFD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51968A-3D4F-49F4-B005-C1F33C6A8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C39B4-BE3D-4167-A05D-8FCB5D38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1502-308B-42E6-B21F-C1F85668688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FF278-74D8-4F4C-89F8-1E5B2F62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64B6D-0A44-434B-A829-A9DAA85D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D9DF-E254-47AB-B10F-F67483C51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62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042B-2D13-4DE0-9AC4-EC0F15F16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1E9A37-EB02-4B7B-A359-D2A53EC899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127527-EAFA-4036-97AE-B3EFE2478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AB1C0-2E7E-47B9-A34B-F5B9565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1502-308B-42E6-B21F-C1F85668688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26BA4-5C30-4F98-9D25-769885085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674F8-37A3-43C0-9AA3-76823E8AA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D9DF-E254-47AB-B10F-F67483C51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933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A3EF4-3B6B-4EE3-8608-39D4E236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6F98C1-99C6-4288-AA2D-32A3DC34D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6A7BF-D25C-498D-88D0-5DE85C464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1502-308B-42E6-B21F-C1F85668688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0BBA0-8D1E-4977-98CD-117459B59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F9207-53C0-4638-80A0-377CF85C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D9DF-E254-47AB-B10F-F67483C51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686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FE14C-F657-4A28-B1E2-726CAE9A32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64A55-D194-4D82-9715-F6E01CAFD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C619D-0111-4F8A-BCCA-5C6FCAD24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1502-308B-42E6-B21F-C1F85668688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FD433-03CA-455F-A27A-CC7614BD1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E3AA1-167E-453C-9714-F2F080AA3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D9DF-E254-47AB-B10F-F67483C51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270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19B21-D46E-4478-92E0-FBE401874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44FFD-4152-465D-8E21-65A50637B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99B43-E44F-4048-B1BB-297D2F599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C1502-308B-42E6-B21F-C1F85668688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89AB1-DE61-4328-A959-1150851B3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F0CDF-458B-47CD-B67D-7F0DB7308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ED9DF-E254-47AB-B10F-F67483C51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39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wav"/><Relationship Id="rId1" Type="http://schemas.microsoft.com/office/2007/relationships/media" Target="../media/media8.wav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wav"/><Relationship Id="rId1" Type="http://schemas.microsoft.com/office/2007/relationships/media" Target="../media/media9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48A461-3586-4FAB-8684-1359CCDE2DCF}"/>
              </a:ext>
            </a:extLst>
          </p:cNvPr>
          <p:cNvSpPr txBox="1"/>
          <p:nvPr/>
        </p:nvSpPr>
        <p:spPr>
          <a:xfrm>
            <a:off x="0" y="1143000"/>
            <a:ext cx="1219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 b="1">
                <a:solidFill>
                  <a:srgbClr val="FF5C33"/>
                </a:solidFill>
                <a:latin typeface="Segoe UI" panose="020B0502040204020203" pitchFamily="34" charset="0"/>
              </a:rPr>
              <a:t>#BATTLEBOTSDEV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FB5C3-83A5-47AD-B8EB-B62FDEE62CA6}"/>
              </a:ext>
            </a:extLst>
          </p:cNvPr>
          <p:cNvSpPr txBox="1"/>
          <p:nvPr/>
        </p:nvSpPr>
        <p:spPr>
          <a:xfrm>
            <a:off x="0" y="2095500"/>
            <a:ext cx="12192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4600" b="1">
                <a:solidFill>
                  <a:srgbClr val="E8EDF2"/>
                </a:solidFill>
                <a:latin typeface="Segoe UI" panose="020B0502040204020203" pitchFamily="34" charset="0"/>
              </a:rPr>
              <a:t>BattleBots Win Predictor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D3FDA9-A7FB-4885-855B-B3EE22436458}"/>
              </a:ext>
            </a:extLst>
          </p:cNvPr>
          <p:cNvSpPr txBox="1"/>
          <p:nvPr/>
        </p:nvSpPr>
        <p:spPr>
          <a:xfrm>
            <a:off x="1524000" y="3619500"/>
            <a:ext cx="914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8B97A5"/>
                </a:solidFill>
                <a:latin typeface="Segoe UI" panose="020B0502040204020203" pitchFamily="34" charset="0"/>
              </a:rPr>
              <a:t>Predicts who wins any BattleBots matchup, from web data collected with Bright Data.</a:t>
            </a:r>
            <a:endParaRPr lang="en-IN" sz="2000">
              <a:solidFill>
                <a:srgbClr val="8B97A5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EBF04C-6CE4-424C-B008-6DDDF4B67232}"/>
              </a:ext>
            </a:extLst>
          </p:cNvPr>
          <p:cNvSpPr/>
          <p:nvPr/>
        </p:nvSpPr>
        <p:spPr>
          <a:xfrm>
            <a:off x="4826000" y="4635500"/>
            <a:ext cx="2540000" cy="584200"/>
          </a:xfrm>
          <a:prstGeom prst="roundRect">
            <a:avLst/>
          </a:prstGeom>
          <a:noFill/>
          <a:ln w="12700" cap="flat" cmpd="sng" algn="ctr">
            <a:solidFill>
              <a:srgbClr val="FF5C3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00D0B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12F31-6F2A-4605-B566-2A2D7259A548}"/>
              </a:ext>
            </a:extLst>
          </p:cNvPr>
          <p:cNvSpPr txBox="1"/>
          <p:nvPr/>
        </p:nvSpPr>
        <p:spPr>
          <a:xfrm>
            <a:off x="4826000" y="4762500"/>
            <a:ext cx="254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b="1">
                <a:solidFill>
                  <a:srgbClr val="FF5C33"/>
                </a:solidFill>
                <a:latin typeface="Segoe UI" panose="020B0502040204020203" pitchFamily="34" charset="0"/>
              </a:rPr>
              <a:t>#BattleBotsDev</a:t>
            </a:r>
          </a:p>
        </p:txBody>
      </p:sp>
      <p:pic>
        <p:nvPicPr>
          <p:cNvPr id="7" name="slide1">
            <a:hlinkClick r:id="" action="ppaction://media"/>
            <a:extLst>
              <a:ext uri="{FF2B5EF4-FFF2-40B4-BE49-F238E27FC236}">
                <a16:creationId xmlns:a16="http://schemas.microsoft.com/office/drawing/2014/main" id="{0F4A980F-72F4-4D16-AC37-6D9790238E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4" y="3184524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73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1100"/>
    </mc:Choice>
    <mc:Fallback>
      <p:transition spd="slow" advClick="0" advTm="11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70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D4CDDE-F5A6-483B-895D-C0BB4A14DB69}"/>
              </a:ext>
            </a:extLst>
          </p:cNvPr>
          <p:cNvSpPr txBox="1"/>
          <p:nvPr/>
        </p:nvSpPr>
        <p:spPr>
          <a:xfrm>
            <a:off x="0" y="698500"/>
            <a:ext cx="1219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 b="1">
                <a:solidFill>
                  <a:srgbClr val="FF5C33"/>
                </a:solidFill>
                <a:latin typeface="Segoe UI" panose="020B0502040204020203" pitchFamily="34" charset="0"/>
              </a:rPr>
              <a:t>PREDICT &amp; EXPLAIN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B49D8C-876E-4ACC-8CB5-33F36571C7EB}"/>
              </a:ext>
            </a:extLst>
          </p:cNvPr>
          <p:cNvSpPr txBox="1"/>
          <p:nvPr/>
        </p:nvSpPr>
        <p:spPr>
          <a:xfrm>
            <a:off x="0" y="1206500"/>
            <a:ext cx="1219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3400" b="1">
                <a:solidFill>
                  <a:srgbClr val="E8EDF2"/>
                </a:solidFill>
                <a:latin typeface="Segoe UI" panose="020B0502040204020203" pitchFamily="34" charset="0"/>
              </a:rPr>
              <a:t>Who wins - and why?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008D40-B968-4BD2-BB2C-F203972B2C0E}"/>
              </a:ext>
            </a:extLst>
          </p:cNvPr>
          <p:cNvSpPr/>
          <p:nvPr/>
        </p:nvSpPr>
        <p:spPr>
          <a:xfrm>
            <a:off x="2286000" y="2349500"/>
            <a:ext cx="7620000" cy="3175000"/>
          </a:xfrm>
          <a:prstGeom prst="roundRect">
            <a:avLst/>
          </a:prstGeom>
          <a:solidFill>
            <a:srgbClr val="1418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EA642-44C2-4A59-A2B0-CD2017D52970}"/>
              </a:ext>
            </a:extLst>
          </p:cNvPr>
          <p:cNvSpPr txBox="1"/>
          <p:nvPr/>
        </p:nvSpPr>
        <p:spPr>
          <a:xfrm>
            <a:off x="2286000" y="2603500"/>
            <a:ext cx="762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200" b="1">
                <a:solidFill>
                  <a:srgbClr val="2ECC71"/>
                </a:solidFill>
                <a:latin typeface="Segoe UI" panose="020B0502040204020203" pitchFamily="34" charset="0"/>
              </a:rPr>
              <a:t>Predicted winner: Tombstone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034861-B819-4629-AE97-2B0929D82624}"/>
              </a:ext>
            </a:extLst>
          </p:cNvPr>
          <p:cNvSpPr/>
          <p:nvPr/>
        </p:nvSpPr>
        <p:spPr>
          <a:xfrm>
            <a:off x="2667000" y="3238500"/>
            <a:ext cx="3810000" cy="508000"/>
          </a:xfrm>
          <a:prstGeom prst="rect">
            <a:avLst/>
          </a:prstGeom>
          <a:solidFill>
            <a:srgbClr val="FF5C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DCC235-01EB-4D72-A1D1-0D1C10070FA9}"/>
              </a:ext>
            </a:extLst>
          </p:cNvPr>
          <p:cNvSpPr/>
          <p:nvPr/>
        </p:nvSpPr>
        <p:spPr>
          <a:xfrm>
            <a:off x="6477000" y="3238500"/>
            <a:ext cx="3048000" cy="508000"/>
          </a:xfrm>
          <a:prstGeom prst="rect">
            <a:avLst/>
          </a:prstGeom>
          <a:solidFill>
            <a:srgbClr val="33B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48FB3-F4D6-44C9-B8C3-4D4B5338BF56}"/>
              </a:ext>
            </a:extLst>
          </p:cNvPr>
          <p:cNvSpPr txBox="1"/>
          <p:nvPr/>
        </p:nvSpPr>
        <p:spPr>
          <a:xfrm>
            <a:off x="2794000" y="33401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B0D10"/>
                </a:solidFill>
                <a:latin typeface="Segoe UI" panose="020B0502040204020203" pitchFamily="34" charset="0"/>
              </a:rPr>
              <a:t>51.8%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4319A1-80C2-4C39-BE39-4F170332353A}"/>
              </a:ext>
            </a:extLst>
          </p:cNvPr>
          <p:cNvSpPr txBox="1"/>
          <p:nvPr/>
        </p:nvSpPr>
        <p:spPr>
          <a:xfrm>
            <a:off x="7874000" y="3340100"/>
            <a:ext cx="152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b="1">
                <a:solidFill>
                  <a:srgbClr val="0B0D10"/>
                </a:solidFill>
                <a:latin typeface="Segoe UI" panose="020B0502040204020203" pitchFamily="34" charset="0"/>
              </a:rPr>
              <a:t>48.2%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41AEA5-80D2-425C-A92E-4B0DF377993D}"/>
              </a:ext>
            </a:extLst>
          </p:cNvPr>
          <p:cNvSpPr txBox="1"/>
          <p:nvPr/>
        </p:nvSpPr>
        <p:spPr>
          <a:xfrm>
            <a:off x="2730500" y="3937000"/>
            <a:ext cx="6731000" cy="784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>
                <a:solidFill>
                  <a:srgbClr val="E8EDF2"/>
                </a:solidFill>
                <a:latin typeface="Segoe UI" panose="020B0502040204020203" pitchFamily="34" charset="0"/>
              </a:rPr>
              <a:t>Tombstone has the stronger win rate (72% vs 68%).</a:t>
            </a:r>
          </a:p>
          <a:p>
            <a:r>
              <a:rPr lang="en-US" sz="1500">
                <a:solidFill>
                  <a:srgbClr val="E8EDF2"/>
                </a:solidFill>
                <a:latin typeface="Segoe UI" panose="020B0502040204020203" pitchFamily="34" charset="0"/>
              </a:rPr>
              <a:t>Tombstone finishes fights - 73% of wins are KOs.</a:t>
            </a:r>
          </a:p>
          <a:p>
            <a:r>
              <a:rPr lang="en-US" sz="1500">
                <a:solidFill>
                  <a:srgbClr val="E8EDF2"/>
                </a:solidFill>
                <a:latin typeface="Segoe UI" panose="020B0502040204020203" pitchFamily="34" charset="0"/>
              </a:rPr>
              <a:t>Head-to-head: Tombstone 0 - 1 Minotaur.</a:t>
            </a:r>
            <a:endParaRPr lang="en-IN" sz="1500">
              <a:solidFill>
                <a:srgbClr val="E8EDF2"/>
              </a:solidFill>
              <a:latin typeface="Segoe UI" panose="020B0502040204020203" pitchFamily="34" charset="0"/>
            </a:endParaRPr>
          </a:p>
        </p:txBody>
      </p:sp>
      <p:pic>
        <p:nvPicPr>
          <p:cNvPr id="11" name="slide2">
            <a:hlinkClick r:id="" action="ppaction://media"/>
            <a:extLst>
              <a:ext uri="{FF2B5EF4-FFF2-40B4-BE49-F238E27FC236}">
                <a16:creationId xmlns:a16="http://schemas.microsoft.com/office/drawing/2014/main" id="{A8A2F07B-28D0-4BE1-95F4-6E03EAC8D91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4" y="3184524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88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6350"/>
    </mc:Choice>
    <mc:Fallback>
      <p:transition spd="slow" advClick="0" advTm="163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94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D7F374-904F-4686-8EFF-BB22D3C3CFD5}"/>
              </a:ext>
            </a:extLst>
          </p:cNvPr>
          <p:cNvSpPr txBox="1"/>
          <p:nvPr/>
        </p:nvSpPr>
        <p:spPr>
          <a:xfrm>
            <a:off x="0" y="1143000"/>
            <a:ext cx="1219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 b="1">
                <a:solidFill>
                  <a:srgbClr val="FF5C33"/>
                </a:solidFill>
                <a:latin typeface="Segoe UI" panose="020B0502040204020203" pitchFamily="34" charset="0"/>
              </a:rPr>
              <a:t>COMPARE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6A027-EB35-4919-BCC5-62F559D0B02B}"/>
              </a:ext>
            </a:extLst>
          </p:cNvPr>
          <p:cNvSpPr txBox="1"/>
          <p:nvPr/>
        </p:nvSpPr>
        <p:spPr>
          <a:xfrm>
            <a:off x="0" y="1778000"/>
            <a:ext cx="1219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400" b="1">
                <a:solidFill>
                  <a:srgbClr val="E8EDF2"/>
                </a:solidFill>
                <a:latin typeface="Segoe UI" panose="020B0502040204020203" pitchFamily="34" charset="0"/>
              </a:rPr>
              <a:t>Every signal, side by side</a:t>
            </a:r>
            <a:endParaRPr lang="en-IN" sz="3400" b="1">
              <a:solidFill>
                <a:srgbClr val="E8EDF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35F0E4-C1B4-408A-936C-1F3C8540EEB6}"/>
              </a:ext>
            </a:extLst>
          </p:cNvPr>
          <p:cNvSpPr/>
          <p:nvPr/>
        </p:nvSpPr>
        <p:spPr>
          <a:xfrm>
            <a:off x="1397000" y="3302000"/>
            <a:ext cx="2286000" cy="762000"/>
          </a:xfrm>
          <a:prstGeom prst="roundRect">
            <a:avLst/>
          </a:prstGeom>
          <a:solidFill>
            <a:srgbClr val="1B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DEF8F-D7B7-40FB-83F6-C9A16E93884C}"/>
              </a:ext>
            </a:extLst>
          </p:cNvPr>
          <p:cNvSpPr txBox="1"/>
          <p:nvPr/>
        </p:nvSpPr>
        <p:spPr>
          <a:xfrm>
            <a:off x="1397000" y="35306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 b="1">
                <a:solidFill>
                  <a:srgbClr val="E8EDF2"/>
                </a:solidFill>
                <a:latin typeface="Segoe UI" panose="020B0502040204020203" pitchFamily="34" charset="0"/>
              </a:rPr>
              <a:t>Win rate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7DAABF-DE2D-4929-9AE4-82B255C64282}"/>
              </a:ext>
            </a:extLst>
          </p:cNvPr>
          <p:cNvSpPr/>
          <p:nvPr/>
        </p:nvSpPr>
        <p:spPr>
          <a:xfrm>
            <a:off x="3810000" y="3302000"/>
            <a:ext cx="2286000" cy="762000"/>
          </a:xfrm>
          <a:prstGeom prst="roundRect">
            <a:avLst/>
          </a:prstGeom>
          <a:solidFill>
            <a:srgbClr val="1B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66F1F-B735-4839-B7AA-0FD7E67D7028}"/>
              </a:ext>
            </a:extLst>
          </p:cNvPr>
          <p:cNvSpPr txBox="1"/>
          <p:nvPr/>
        </p:nvSpPr>
        <p:spPr>
          <a:xfrm>
            <a:off x="3810000" y="35306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 b="1">
                <a:solidFill>
                  <a:srgbClr val="E8EDF2"/>
                </a:solidFill>
                <a:latin typeface="Segoe UI" panose="020B0502040204020203" pitchFamily="34" charset="0"/>
              </a:rPr>
              <a:t>Finishing (KO)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ABFF9D-198F-4D19-A612-7CED731CCE4B}"/>
              </a:ext>
            </a:extLst>
          </p:cNvPr>
          <p:cNvSpPr/>
          <p:nvPr/>
        </p:nvSpPr>
        <p:spPr>
          <a:xfrm>
            <a:off x="6223000" y="3302000"/>
            <a:ext cx="2286000" cy="762000"/>
          </a:xfrm>
          <a:prstGeom prst="roundRect">
            <a:avLst/>
          </a:prstGeom>
          <a:solidFill>
            <a:srgbClr val="1B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41A4B-1FFA-449E-8525-179618DC475E}"/>
              </a:ext>
            </a:extLst>
          </p:cNvPr>
          <p:cNvSpPr txBox="1"/>
          <p:nvPr/>
        </p:nvSpPr>
        <p:spPr>
          <a:xfrm>
            <a:off x="6223000" y="35306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 b="1">
                <a:solidFill>
                  <a:srgbClr val="E8EDF2"/>
                </a:solidFill>
                <a:latin typeface="Segoe UI" panose="020B0502040204020203" pitchFamily="34" charset="0"/>
              </a:rPr>
              <a:t>Weapon edge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3C62E9-0922-47AE-A85E-5033E6251A59}"/>
              </a:ext>
            </a:extLst>
          </p:cNvPr>
          <p:cNvSpPr/>
          <p:nvPr/>
        </p:nvSpPr>
        <p:spPr>
          <a:xfrm>
            <a:off x="8636000" y="3302000"/>
            <a:ext cx="2286000" cy="762000"/>
          </a:xfrm>
          <a:prstGeom prst="roundRect">
            <a:avLst/>
          </a:prstGeom>
          <a:solidFill>
            <a:srgbClr val="1B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917A98-C755-43D0-AEB5-083DF14618EA}"/>
              </a:ext>
            </a:extLst>
          </p:cNvPr>
          <p:cNvSpPr txBox="1"/>
          <p:nvPr/>
        </p:nvSpPr>
        <p:spPr>
          <a:xfrm>
            <a:off x="8636000" y="35306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 b="1">
                <a:solidFill>
                  <a:srgbClr val="E8EDF2"/>
                </a:solidFill>
                <a:latin typeface="Segoe UI" panose="020B0502040204020203" pitchFamily="34" charset="0"/>
              </a:rPr>
              <a:t>Experience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63FD5F-C996-4786-9445-BC5F69BB8852}"/>
              </a:ext>
            </a:extLst>
          </p:cNvPr>
          <p:cNvSpPr txBox="1"/>
          <p:nvPr/>
        </p:nvSpPr>
        <p:spPr>
          <a:xfrm>
            <a:off x="0" y="457200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>
                <a:solidFill>
                  <a:srgbClr val="8B97A5"/>
                </a:solidFill>
                <a:latin typeface="Segoe UI" panose="020B0502040204020203" pitchFamily="34" charset="0"/>
              </a:rPr>
              <a:t>A radar chart compares both robots across four signals.</a:t>
            </a:r>
            <a:endParaRPr lang="en-IN">
              <a:solidFill>
                <a:srgbClr val="8B97A5"/>
              </a:solidFill>
              <a:latin typeface="Segoe UI" panose="020B0502040204020203" pitchFamily="34" charset="0"/>
            </a:endParaRPr>
          </a:p>
        </p:txBody>
      </p:sp>
      <p:pic>
        <p:nvPicPr>
          <p:cNvPr id="13" name="slide3">
            <a:hlinkClick r:id="" action="ppaction://media"/>
            <a:extLst>
              <a:ext uri="{FF2B5EF4-FFF2-40B4-BE49-F238E27FC236}">
                <a16:creationId xmlns:a16="http://schemas.microsoft.com/office/drawing/2014/main" id="{0BA42B64-7C79-451D-8F14-954D9B7A35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4" y="3184524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50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10"/>
    </mc:Choice>
    <mc:Fallback>
      <p:transition spd="slow" advClick="0" advTm="80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1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BF4C31-3227-4D2C-B451-5B9BDE4E6878}"/>
              </a:ext>
            </a:extLst>
          </p:cNvPr>
          <p:cNvSpPr txBox="1"/>
          <p:nvPr/>
        </p:nvSpPr>
        <p:spPr>
          <a:xfrm>
            <a:off x="0" y="825500"/>
            <a:ext cx="1219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 b="1">
                <a:solidFill>
                  <a:srgbClr val="FF5C33"/>
                </a:solidFill>
                <a:latin typeface="Segoe UI" panose="020B0502040204020203" pitchFamily="34" charset="0"/>
              </a:rPr>
              <a:t>ROBOT PROFILES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FCBCC-C7B0-44BB-B94E-9638A508564A}"/>
              </a:ext>
            </a:extLst>
          </p:cNvPr>
          <p:cNvSpPr txBox="1"/>
          <p:nvPr/>
        </p:nvSpPr>
        <p:spPr>
          <a:xfrm>
            <a:off x="0" y="1333500"/>
            <a:ext cx="1219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3200" b="1">
                <a:solidFill>
                  <a:srgbClr val="E8EDF2"/>
                </a:solidFill>
                <a:latin typeface="Segoe UI" panose="020B0502040204020203" pitchFamily="34" charset="0"/>
              </a:rPr>
              <a:t>Full stats &amp; match history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BFFF3A-26B9-48A2-8497-4AD39E214362}"/>
              </a:ext>
            </a:extLst>
          </p:cNvPr>
          <p:cNvSpPr/>
          <p:nvPr/>
        </p:nvSpPr>
        <p:spPr>
          <a:xfrm>
            <a:off x="2286000" y="2222500"/>
            <a:ext cx="7620000" cy="2921000"/>
          </a:xfrm>
          <a:prstGeom prst="roundRect">
            <a:avLst/>
          </a:prstGeom>
          <a:solidFill>
            <a:srgbClr val="1418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9E0A0-A40F-4F05-8564-45406DCBAEE8}"/>
              </a:ext>
            </a:extLst>
          </p:cNvPr>
          <p:cNvSpPr txBox="1"/>
          <p:nvPr/>
        </p:nvSpPr>
        <p:spPr>
          <a:xfrm>
            <a:off x="2667000" y="2476500"/>
            <a:ext cx="508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600" b="1">
                <a:solidFill>
                  <a:srgbClr val="FF5C33"/>
                </a:solidFill>
                <a:latin typeface="Segoe UI" panose="020B0502040204020203" pitchFamily="34" charset="0"/>
              </a:rPr>
              <a:t>#1  Bite Force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27AA0D-DBFE-4773-BF4D-ABBE49FD30E5}"/>
              </a:ext>
            </a:extLst>
          </p:cNvPr>
          <p:cNvSpPr txBox="1"/>
          <p:nvPr/>
        </p:nvSpPr>
        <p:spPr>
          <a:xfrm>
            <a:off x="2667000" y="3035300"/>
            <a:ext cx="635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>
                <a:solidFill>
                  <a:srgbClr val="8B97A5"/>
                </a:solidFill>
                <a:latin typeface="Segoe UI" panose="020B0502040204020203" pitchFamily="34" charset="0"/>
              </a:rPr>
              <a:t>drum spinner - Paul Ventimiglia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204F48-F615-4836-B9DF-FAC00F1F389A}"/>
              </a:ext>
            </a:extLst>
          </p:cNvPr>
          <p:cNvSpPr/>
          <p:nvPr/>
        </p:nvSpPr>
        <p:spPr>
          <a:xfrm>
            <a:off x="2667000" y="3556000"/>
            <a:ext cx="1651000" cy="482600"/>
          </a:xfrm>
          <a:prstGeom prst="roundRect">
            <a:avLst/>
          </a:prstGeom>
          <a:solidFill>
            <a:srgbClr val="1B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7F0341-81E9-4894-A9CB-27B83A589EAD}"/>
              </a:ext>
            </a:extLst>
          </p:cNvPr>
          <p:cNvSpPr txBox="1"/>
          <p:nvPr/>
        </p:nvSpPr>
        <p:spPr>
          <a:xfrm>
            <a:off x="2667000" y="3670300"/>
            <a:ext cx="1651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E8EDF2"/>
                </a:solidFill>
                <a:latin typeface="Segoe UI" panose="020B0502040204020203" pitchFamily="34" charset="0"/>
              </a:rPr>
              <a:t>83.3% win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EB4366-A993-4439-B2E2-F2143B3D2074}"/>
              </a:ext>
            </a:extLst>
          </p:cNvPr>
          <p:cNvSpPr/>
          <p:nvPr/>
        </p:nvSpPr>
        <p:spPr>
          <a:xfrm>
            <a:off x="4445000" y="3556000"/>
            <a:ext cx="1651000" cy="482600"/>
          </a:xfrm>
          <a:prstGeom prst="roundRect">
            <a:avLst/>
          </a:prstGeom>
          <a:solidFill>
            <a:srgbClr val="1B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AFB384-D6DF-41DB-9ABE-006F8F89E4FA}"/>
              </a:ext>
            </a:extLst>
          </p:cNvPr>
          <p:cNvSpPr txBox="1"/>
          <p:nvPr/>
        </p:nvSpPr>
        <p:spPr>
          <a:xfrm>
            <a:off x="4445000" y="3670300"/>
            <a:ext cx="1651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E8EDF2"/>
                </a:solidFill>
                <a:latin typeface="Segoe UI" panose="020B0502040204020203" pitchFamily="34" charset="0"/>
              </a:rPr>
              <a:t>20-4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BC99C96-7F18-446C-B278-EDBC088EAEB1}"/>
              </a:ext>
            </a:extLst>
          </p:cNvPr>
          <p:cNvSpPr/>
          <p:nvPr/>
        </p:nvSpPr>
        <p:spPr>
          <a:xfrm>
            <a:off x="6223000" y="3556000"/>
            <a:ext cx="1651000" cy="482600"/>
          </a:xfrm>
          <a:prstGeom prst="roundRect">
            <a:avLst/>
          </a:prstGeom>
          <a:solidFill>
            <a:srgbClr val="1B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BE9220-92C5-493B-8E7F-72096D6935B6}"/>
              </a:ext>
            </a:extLst>
          </p:cNvPr>
          <p:cNvSpPr txBox="1"/>
          <p:nvPr/>
        </p:nvSpPr>
        <p:spPr>
          <a:xfrm>
            <a:off x="6223000" y="3670300"/>
            <a:ext cx="1651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E8EDF2"/>
                </a:solidFill>
                <a:latin typeface="Segoe UI" panose="020B0502040204020203" pitchFamily="34" charset="0"/>
              </a:rPr>
              <a:t>45% KO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B5C0A7-DCEA-492C-A264-24B0F24A30E4}"/>
              </a:ext>
            </a:extLst>
          </p:cNvPr>
          <p:cNvSpPr/>
          <p:nvPr/>
        </p:nvSpPr>
        <p:spPr>
          <a:xfrm>
            <a:off x="8001000" y="3556000"/>
            <a:ext cx="1651000" cy="482600"/>
          </a:xfrm>
          <a:prstGeom prst="roundRect">
            <a:avLst/>
          </a:prstGeom>
          <a:solidFill>
            <a:srgbClr val="1B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064CDD-C1B2-428A-9724-90D769F84E18}"/>
              </a:ext>
            </a:extLst>
          </p:cNvPr>
          <p:cNvSpPr txBox="1"/>
          <p:nvPr/>
        </p:nvSpPr>
        <p:spPr>
          <a:xfrm>
            <a:off x="8001000" y="3670300"/>
            <a:ext cx="1651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E8EDF2"/>
                </a:solidFill>
                <a:latin typeface="Segoe UI" panose="020B0502040204020203" pitchFamily="34" charset="0"/>
              </a:rPr>
              <a:t>250 lb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21E98A-0A6D-4996-B2B0-D7F374B2D8A1}"/>
              </a:ext>
            </a:extLst>
          </p:cNvPr>
          <p:cNvSpPr txBox="1"/>
          <p:nvPr/>
        </p:nvSpPr>
        <p:spPr>
          <a:xfrm>
            <a:off x="2667000" y="4381500"/>
            <a:ext cx="711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8B97A5"/>
                </a:solidFill>
                <a:latin typeface="Segoe UI" panose="020B0502040204020203" pitchFamily="34" charset="0"/>
              </a:rPr>
              <a:t>2024 Loss vs End Game     2019 Win vs Tombstone     2018 Win vs Lock-Jaw</a:t>
            </a:r>
            <a:endParaRPr lang="en-IN" sz="1400">
              <a:solidFill>
                <a:srgbClr val="8B97A5"/>
              </a:solidFill>
              <a:latin typeface="Segoe UI" panose="020B0502040204020203" pitchFamily="34" charset="0"/>
            </a:endParaRPr>
          </a:p>
        </p:txBody>
      </p:sp>
      <p:pic>
        <p:nvPicPr>
          <p:cNvPr id="16" name="slide4">
            <a:hlinkClick r:id="" action="ppaction://media"/>
            <a:extLst>
              <a:ext uri="{FF2B5EF4-FFF2-40B4-BE49-F238E27FC236}">
                <a16:creationId xmlns:a16="http://schemas.microsoft.com/office/drawing/2014/main" id="{37E39123-FFF1-416F-95C8-A21F87114F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4" y="3184524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21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70"/>
    </mc:Choice>
    <mc:Fallback>
      <p:transition spd="slow" advClick="0" advTm="70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73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44D48D-1CD1-4975-A7AB-8372BD75AD21}"/>
              </a:ext>
            </a:extLst>
          </p:cNvPr>
          <p:cNvSpPr txBox="1"/>
          <p:nvPr/>
        </p:nvSpPr>
        <p:spPr>
          <a:xfrm>
            <a:off x="0" y="1270000"/>
            <a:ext cx="1219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 b="1">
                <a:solidFill>
                  <a:srgbClr val="FF5C33"/>
                </a:solidFill>
                <a:latin typeface="Segoe UI" panose="020B0502040204020203" pitchFamily="34" charset="0"/>
              </a:rPr>
              <a:t>TOURNAMENT SIMULATOR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C9ABD6-15A0-4CF7-B973-8454F6DBA4ED}"/>
              </a:ext>
            </a:extLst>
          </p:cNvPr>
          <p:cNvSpPr txBox="1"/>
          <p:nvPr/>
        </p:nvSpPr>
        <p:spPr>
          <a:xfrm>
            <a:off x="0" y="1841500"/>
            <a:ext cx="1219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3400" b="1">
                <a:solidFill>
                  <a:srgbClr val="E8EDF2"/>
                </a:solidFill>
                <a:latin typeface="Segoe UI" panose="020B0502040204020203" pitchFamily="34" charset="0"/>
              </a:rPr>
              <a:t>Predict the champion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210B82-49F3-48EE-87B6-2FEBE540448E}"/>
              </a:ext>
            </a:extLst>
          </p:cNvPr>
          <p:cNvSpPr/>
          <p:nvPr/>
        </p:nvSpPr>
        <p:spPr>
          <a:xfrm>
            <a:off x="2667000" y="3175000"/>
            <a:ext cx="2159000" cy="635000"/>
          </a:xfrm>
          <a:prstGeom prst="roundRect">
            <a:avLst/>
          </a:prstGeom>
          <a:solidFill>
            <a:srgbClr val="1B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789E0-6799-4D69-BDC0-4A3F228FD7A7}"/>
              </a:ext>
            </a:extLst>
          </p:cNvPr>
          <p:cNvSpPr txBox="1"/>
          <p:nvPr/>
        </p:nvSpPr>
        <p:spPr>
          <a:xfrm>
            <a:off x="2667000" y="3340100"/>
            <a:ext cx="2159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b="1">
                <a:solidFill>
                  <a:srgbClr val="FF5C33"/>
                </a:solidFill>
                <a:latin typeface="Segoe UI" panose="020B0502040204020203" pitchFamily="34" charset="0"/>
              </a:rPr>
              <a:t>End Game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9EB424-6B76-46B6-B87A-202D50E21F53}"/>
              </a:ext>
            </a:extLst>
          </p:cNvPr>
          <p:cNvSpPr txBox="1"/>
          <p:nvPr/>
        </p:nvSpPr>
        <p:spPr>
          <a:xfrm>
            <a:off x="5080000" y="3276600"/>
            <a:ext cx="762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600" b="1">
                <a:solidFill>
                  <a:srgbClr val="FF5C33"/>
                </a:solidFill>
                <a:latin typeface="Segoe UI" panose="020B0502040204020203" pitchFamily="34" charset="0"/>
              </a:rPr>
              <a:t>-&gt;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96B821-3806-43CD-8723-D05863254378}"/>
              </a:ext>
            </a:extLst>
          </p:cNvPr>
          <p:cNvSpPr/>
          <p:nvPr/>
        </p:nvSpPr>
        <p:spPr>
          <a:xfrm>
            <a:off x="6350000" y="3111500"/>
            <a:ext cx="3175000" cy="762000"/>
          </a:xfrm>
          <a:prstGeom prst="roundRect">
            <a:avLst/>
          </a:prstGeom>
          <a:solidFill>
            <a:srgbClr val="FF5C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5E176-2E8E-4426-9425-6A46320D19FA}"/>
              </a:ext>
            </a:extLst>
          </p:cNvPr>
          <p:cNvSpPr txBox="1"/>
          <p:nvPr/>
        </p:nvSpPr>
        <p:spPr>
          <a:xfrm>
            <a:off x="6350000" y="3327400"/>
            <a:ext cx="317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000" b="1">
                <a:solidFill>
                  <a:srgbClr val="0B0D10"/>
                </a:solidFill>
                <a:latin typeface="Segoe UI" panose="020B0502040204020203" pitchFamily="34" charset="0"/>
              </a:rPr>
              <a:t>Champion: End Game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7B74C-70AA-4897-BB39-420E11E73543}"/>
              </a:ext>
            </a:extLst>
          </p:cNvPr>
          <p:cNvSpPr txBox="1"/>
          <p:nvPr/>
        </p:nvSpPr>
        <p:spPr>
          <a:xfrm>
            <a:off x="0" y="444500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>
                <a:solidFill>
                  <a:srgbClr val="8B97A5"/>
                </a:solidFill>
                <a:latin typeface="Segoe UI" panose="020B0502040204020203" pitchFamily="34" charset="0"/>
              </a:rPr>
              <a:t>A full single-elimination bracket, simulated fight by fight.</a:t>
            </a:r>
            <a:endParaRPr lang="en-IN">
              <a:solidFill>
                <a:srgbClr val="8B97A5"/>
              </a:solidFill>
              <a:latin typeface="Segoe UI" panose="020B0502040204020203" pitchFamily="34" charset="0"/>
            </a:endParaRPr>
          </a:p>
        </p:txBody>
      </p:sp>
      <p:pic>
        <p:nvPicPr>
          <p:cNvPr id="10" name="slide5">
            <a:hlinkClick r:id="" action="ppaction://media"/>
            <a:extLst>
              <a:ext uri="{FF2B5EF4-FFF2-40B4-BE49-F238E27FC236}">
                <a16:creationId xmlns:a16="http://schemas.microsoft.com/office/drawing/2014/main" id="{5132A496-E475-4084-8E96-DF5FE0F780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4" y="3184524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2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790"/>
    </mc:Choice>
    <mc:Fallback>
      <p:transition spd="slow" advClick="0" advTm="67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88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903464-7B57-49FF-A1E1-7F865BDC3AA4}"/>
              </a:ext>
            </a:extLst>
          </p:cNvPr>
          <p:cNvSpPr txBox="1"/>
          <p:nvPr/>
        </p:nvSpPr>
        <p:spPr>
          <a:xfrm>
            <a:off x="0" y="825500"/>
            <a:ext cx="1219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 b="1">
                <a:solidFill>
                  <a:srgbClr val="FF5C33"/>
                </a:solidFill>
                <a:latin typeface="Segoe UI" panose="020B0502040204020203" pitchFamily="34" charset="0"/>
              </a:rPr>
              <a:t>RIGOR, NOT GUESSING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0ECD3F-5C90-4BF2-9749-E54C1F0AEA62}"/>
              </a:ext>
            </a:extLst>
          </p:cNvPr>
          <p:cNvSpPr txBox="1"/>
          <p:nvPr/>
        </p:nvSpPr>
        <p:spPr>
          <a:xfrm>
            <a:off x="0" y="1333500"/>
            <a:ext cx="1219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000" b="1">
                <a:solidFill>
                  <a:srgbClr val="E8EDF2"/>
                </a:solidFill>
                <a:latin typeface="Segoe UI" panose="020B0502040204020203" pitchFamily="34" charset="0"/>
              </a:rPr>
              <a:t>Backtested on 66 real fights</a:t>
            </a:r>
            <a:endParaRPr lang="en-IN" sz="3000" b="1">
              <a:solidFill>
                <a:srgbClr val="E8EDF2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9E3CA5-6C95-47F1-B72D-48944FCF5CB6}"/>
              </a:ext>
            </a:extLst>
          </p:cNvPr>
          <p:cNvSpPr txBox="1"/>
          <p:nvPr/>
        </p:nvSpPr>
        <p:spPr>
          <a:xfrm>
            <a:off x="0" y="2095500"/>
            <a:ext cx="12192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8400" b="1">
                <a:solidFill>
                  <a:srgbClr val="2ECC71"/>
                </a:solidFill>
                <a:latin typeface="Segoe UI" panose="020B0502040204020203" pitchFamily="34" charset="0"/>
              </a:rPr>
              <a:t>66.7%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6A903C-8626-468C-B02A-DA1D074B502C}"/>
              </a:ext>
            </a:extLst>
          </p:cNvPr>
          <p:cNvSpPr/>
          <p:nvPr/>
        </p:nvSpPr>
        <p:spPr>
          <a:xfrm>
            <a:off x="3175000" y="4000500"/>
            <a:ext cx="1905000" cy="508000"/>
          </a:xfrm>
          <a:prstGeom prst="roundRect">
            <a:avLst/>
          </a:prstGeom>
          <a:solidFill>
            <a:srgbClr val="1B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F6D65-A55E-4981-B6FD-031FEDACD4BF}"/>
              </a:ext>
            </a:extLst>
          </p:cNvPr>
          <p:cNvSpPr txBox="1"/>
          <p:nvPr/>
        </p:nvSpPr>
        <p:spPr>
          <a:xfrm>
            <a:off x="3175000" y="4127500"/>
            <a:ext cx="190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33B1FF"/>
                </a:solidFill>
                <a:latin typeface="Segoe UI" panose="020B0502040204020203" pitchFamily="34" charset="0"/>
              </a:rPr>
              <a:t>HIGH -&gt; 80%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D4339A-4FC7-4352-97A7-B8F8C59252F6}"/>
              </a:ext>
            </a:extLst>
          </p:cNvPr>
          <p:cNvSpPr/>
          <p:nvPr/>
        </p:nvSpPr>
        <p:spPr>
          <a:xfrm>
            <a:off x="5207000" y="4000500"/>
            <a:ext cx="1905000" cy="508000"/>
          </a:xfrm>
          <a:prstGeom prst="roundRect">
            <a:avLst/>
          </a:prstGeom>
          <a:solidFill>
            <a:srgbClr val="1B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6326FD-84EF-4107-AF41-EA3E743FD957}"/>
              </a:ext>
            </a:extLst>
          </p:cNvPr>
          <p:cNvSpPr txBox="1"/>
          <p:nvPr/>
        </p:nvSpPr>
        <p:spPr>
          <a:xfrm>
            <a:off x="5207000" y="4127500"/>
            <a:ext cx="190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33B1FF"/>
                </a:solidFill>
                <a:latin typeface="Segoe UI" panose="020B0502040204020203" pitchFamily="34" charset="0"/>
              </a:rPr>
              <a:t>MEDIUM -&gt; 72%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000CC7-F6B8-4808-9E12-9B48076356E6}"/>
              </a:ext>
            </a:extLst>
          </p:cNvPr>
          <p:cNvSpPr/>
          <p:nvPr/>
        </p:nvSpPr>
        <p:spPr>
          <a:xfrm>
            <a:off x="7239000" y="4000500"/>
            <a:ext cx="1905000" cy="508000"/>
          </a:xfrm>
          <a:prstGeom prst="roundRect">
            <a:avLst/>
          </a:prstGeom>
          <a:solidFill>
            <a:srgbClr val="1B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84141-463B-4E95-892D-5038FB3A1F5D}"/>
              </a:ext>
            </a:extLst>
          </p:cNvPr>
          <p:cNvSpPr txBox="1"/>
          <p:nvPr/>
        </p:nvSpPr>
        <p:spPr>
          <a:xfrm>
            <a:off x="7239000" y="4127500"/>
            <a:ext cx="190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33B1FF"/>
                </a:solidFill>
                <a:latin typeface="Segoe UI" panose="020B0502040204020203" pitchFamily="34" charset="0"/>
              </a:rPr>
              <a:t>LOW -&gt; 59%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2D0B5-6E7B-4B6F-BB08-5D99E6429923}"/>
              </a:ext>
            </a:extLst>
          </p:cNvPr>
          <p:cNvSpPr txBox="1"/>
          <p:nvPr/>
        </p:nvSpPr>
        <p:spPr>
          <a:xfrm>
            <a:off x="0" y="501650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>
                <a:solidFill>
                  <a:srgbClr val="8B97A5"/>
                </a:solidFill>
                <a:latin typeface="Segoe UI" panose="020B0502040204020203" pitchFamily="34" charset="0"/>
              </a:rPr>
              <a:t>Accuracy rises with confidence - the model knows when it knows.</a:t>
            </a:r>
            <a:endParaRPr lang="en-IN">
              <a:solidFill>
                <a:srgbClr val="8B97A5"/>
              </a:solidFill>
              <a:latin typeface="Segoe UI" panose="020B0502040204020203" pitchFamily="34" charset="0"/>
            </a:endParaRPr>
          </a:p>
        </p:txBody>
      </p:sp>
      <p:pic>
        <p:nvPicPr>
          <p:cNvPr id="12" name="slide6">
            <a:hlinkClick r:id="" action="ppaction://media"/>
            <a:extLst>
              <a:ext uri="{FF2B5EF4-FFF2-40B4-BE49-F238E27FC236}">
                <a16:creationId xmlns:a16="http://schemas.microsoft.com/office/drawing/2014/main" id="{E4907278-1685-4B9A-B835-8B6FE23767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4" y="3184524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73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8740"/>
    </mc:Choice>
    <mc:Fallback>
      <p:transition spd="slow" advClick="0" advTm="187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33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A11A72-DCED-42BB-A66A-273BF421A86E}"/>
              </a:ext>
            </a:extLst>
          </p:cNvPr>
          <p:cNvSpPr txBox="1"/>
          <p:nvPr/>
        </p:nvSpPr>
        <p:spPr>
          <a:xfrm>
            <a:off x="0" y="762000"/>
            <a:ext cx="1219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 b="1">
                <a:solidFill>
                  <a:srgbClr val="FF5C33"/>
                </a:solidFill>
                <a:latin typeface="Segoe UI" panose="020B0502040204020203" pitchFamily="34" charset="0"/>
              </a:rPr>
              <a:t>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034FAF-AED3-47E3-B384-D289B46AE8FA}"/>
              </a:ext>
            </a:extLst>
          </p:cNvPr>
          <p:cNvSpPr txBox="1"/>
          <p:nvPr/>
        </p:nvSpPr>
        <p:spPr>
          <a:xfrm>
            <a:off x="0" y="1270000"/>
            <a:ext cx="1219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3000" b="1">
                <a:solidFill>
                  <a:srgbClr val="E8EDF2"/>
                </a:solidFill>
                <a:latin typeface="Segoe UI" panose="020B0502040204020203" pitchFamily="34" charset="0"/>
              </a:rPr>
              <a:t>Weapon meta &amp; biggest upsets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34802-3376-4CD7-8C50-03F7436AB5FD}"/>
              </a:ext>
            </a:extLst>
          </p:cNvPr>
          <p:cNvSpPr txBox="1"/>
          <p:nvPr/>
        </p:nvSpPr>
        <p:spPr>
          <a:xfrm>
            <a:off x="1905000" y="2235200"/>
            <a:ext cx="254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600">
                <a:solidFill>
                  <a:srgbClr val="8B97A5"/>
                </a:solidFill>
                <a:latin typeface="Segoe UI" panose="020B0502040204020203" pitchFamily="34" charset="0"/>
              </a:rPr>
              <a:t>Vertical spinner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55662A-CA3E-4588-BB34-3F8A99CF8721}"/>
              </a:ext>
            </a:extLst>
          </p:cNvPr>
          <p:cNvSpPr/>
          <p:nvPr/>
        </p:nvSpPr>
        <p:spPr>
          <a:xfrm>
            <a:off x="4699000" y="2286000"/>
            <a:ext cx="4318000" cy="228600"/>
          </a:xfrm>
          <a:prstGeom prst="roundRect">
            <a:avLst/>
          </a:prstGeom>
          <a:solidFill>
            <a:srgbClr val="1B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231DC1-0FAB-4727-AB9E-6295AE7BD2A8}"/>
              </a:ext>
            </a:extLst>
          </p:cNvPr>
          <p:cNvSpPr/>
          <p:nvPr/>
        </p:nvSpPr>
        <p:spPr>
          <a:xfrm>
            <a:off x="4699000" y="2286000"/>
            <a:ext cx="2590800" cy="228600"/>
          </a:xfrm>
          <a:prstGeom prst="roundRect">
            <a:avLst/>
          </a:prstGeom>
          <a:solidFill>
            <a:srgbClr val="FF5C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2B3C37-CDF6-4123-A795-8EEA0CD26900}"/>
              </a:ext>
            </a:extLst>
          </p:cNvPr>
          <p:cNvSpPr txBox="1"/>
          <p:nvPr/>
        </p:nvSpPr>
        <p:spPr>
          <a:xfrm>
            <a:off x="9144000" y="2235200"/>
            <a:ext cx="76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E8EDF2"/>
                </a:solidFill>
                <a:latin typeface="Segoe UI" panose="020B0502040204020203" pitchFamily="34" charset="0"/>
              </a:rPr>
              <a:t>60%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763835-DEF5-4E61-ACA3-28D757C6B411}"/>
              </a:ext>
            </a:extLst>
          </p:cNvPr>
          <p:cNvSpPr txBox="1"/>
          <p:nvPr/>
        </p:nvSpPr>
        <p:spPr>
          <a:xfrm>
            <a:off x="1905000" y="2794000"/>
            <a:ext cx="254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600">
                <a:solidFill>
                  <a:srgbClr val="8B97A5"/>
                </a:solidFill>
                <a:latin typeface="Segoe UI" panose="020B0502040204020203" pitchFamily="34" charset="0"/>
              </a:rPr>
              <a:t>Drum spinner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EA2E27-6022-4CA9-8BBC-A023158831B6}"/>
              </a:ext>
            </a:extLst>
          </p:cNvPr>
          <p:cNvSpPr/>
          <p:nvPr/>
        </p:nvSpPr>
        <p:spPr>
          <a:xfrm>
            <a:off x="4699000" y="2844800"/>
            <a:ext cx="4318000" cy="228600"/>
          </a:xfrm>
          <a:prstGeom prst="roundRect">
            <a:avLst/>
          </a:prstGeom>
          <a:solidFill>
            <a:srgbClr val="1B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0FCA88-C4F2-46C2-9FE5-236131371D59}"/>
              </a:ext>
            </a:extLst>
          </p:cNvPr>
          <p:cNvSpPr/>
          <p:nvPr/>
        </p:nvSpPr>
        <p:spPr>
          <a:xfrm>
            <a:off x="4699000" y="2844800"/>
            <a:ext cx="2336800" cy="228600"/>
          </a:xfrm>
          <a:prstGeom prst="roundRect">
            <a:avLst/>
          </a:prstGeom>
          <a:solidFill>
            <a:srgbClr val="FF5C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44933A-1EB5-4F22-B37E-CA0E0D40C246}"/>
              </a:ext>
            </a:extLst>
          </p:cNvPr>
          <p:cNvSpPr txBox="1"/>
          <p:nvPr/>
        </p:nvSpPr>
        <p:spPr>
          <a:xfrm>
            <a:off x="9144000" y="2794000"/>
            <a:ext cx="76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E8EDF2"/>
                </a:solidFill>
                <a:latin typeface="Segoe UI" panose="020B0502040204020203" pitchFamily="34" charset="0"/>
              </a:rPr>
              <a:t>54%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D9EBC-D9F0-40F2-A8C6-03C922D4A848}"/>
              </a:ext>
            </a:extLst>
          </p:cNvPr>
          <p:cNvSpPr txBox="1"/>
          <p:nvPr/>
        </p:nvSpPr>
        <p:spPr>
          <a:xfrm>
            <a:off x="1905000" y="3352800"/>
            <a:ext cx="254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600">
                <a:solidFill>
                  <a:srgbClr val="8B97A5"/>
                </a:solidFill>
                <a:latin typeface="Segoe UI" panose="020B0502040204020203" pitchFamily="34" charset="0"/>
              </a:rPr>
              <a:t>Horizontal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21C3F0E-112C-4B55-8550-221EBA2D2799}"/>
              </a:ext>
            </a:extLst>
          </p:cNvPr>
          <p:cNvSpPr/>
          <p:nvPr/>
        </p:nvSpPr>
        <p:spPr>
          <a:xfrm>
            <a:off x="4699000" y="3403600"/>
            <a:ext cx="4318000" cy="228600"/>
          </a:xfrm>
          <a:prstGeom prst="roundRect">
            <a:avLst/>
          </a:prstGeom>
          <a:solidFill>
            <a:srgbClr val="1B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A5B0DDB-D1C0-43C1-8608-69C4596DDEAC}"/>
              </a:ext>
            </a:extLst>
          </p:cNvPr>
          <p:cNvSpPr/>
          <p:nvPr/>
        </p:nvSpPr>
        <p:spPr>
          <a:xfrm>
            <a:off x="4699000" y="3403600"/>
            <a:ext cx="1765300" cy="228600"/>
          </a:xfrm>
          <a:prstGeom prst="roundRect">
            <a:avLst/>
          </a:prstGeom>
          <a:solidFill>
            <a:srgbClr val="FF5C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D82EA1-FA94-4488-820D-C4821DDA97A4}"/>
              </a:ext>
            </a:extLst>
          </p:cNvPr>
          <p:cNvSpPr txBox="1"/>
          <p:nvPr/>
        </p:nvSpPr>
        <p:spPr>
          <a:xfrm>
            <a:off x="9144000" y="3352800"/>
            <a:ext cx="76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E8EDF2"/>
                </a:solidFill>
                <a:latin typeface="Segoe UI" panose="020B0502040204020203" pitchFamily="34" charset="0"/>
              </a:rPr>
              <a:t>41%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D53B88-D3A3-4A2F-A399-3346061E1A71}"/>
              </a:ext>
            </a:extLst>
          </p:cNvPr>
          <p:cNvSpPr txBox="1"/>
          <p:nvPr/>
        </p:nvSpPr>
        <p:spPr>
          <a:xfrm>
            <a:off x="0" y="431800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>
                <a:solidFill>
                  <a:srgbClr val="2ECC71"/>
                </a:solidFill>
                <a:latin typeface="Segoe UI" panose="020B0502040204020203" pitchFamily="34" charset="0"/>
              </a:rPr>
              <a:t>Biggest upset: Gruff beat Jager - favorite was 61.7% to win.</a:t>
            </a:r>
            <a:endParaRPr lang="en-IN">
              <a:solidFill>
                <a:srgbClr val="2ECC71"/>
              </a:solidFill>
              <a:latin typeface="Segoe UI" panose="020B0502040204020203" pitchFamily="34" charset="0"/>
            </a:endParaRPr>
          </a:p>
        </p:txBody>
      </p:sp>
      <p:pic>
        <p:nvPicPr>
          <p:cNvPr id="17" name="slide7">
            <a:hlinkClick r:id="" action="ppaction://media"/>
            <a:extLst>
              <a:ext uri="{FF2B5EF4-FFF2-40B4-BE49-F238E27FC236}">
                <a16:creationId xmlns:a16="http://schemas.microsoft.com/office/drawing/2014/main" id="{53666799-2AE0-4EDC-9FAD-3C05B2DD7F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4" y="3184524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07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490"/>
    </mc:Choice>
    <mc:Fallback>
      <p:transition spd="slow" advClick="0" advTm="74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88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4CBA81-3E27-4284-A2C8-3782743C2F95}"/>
              </a:ext>
            </a:extLst>
          </p:cNvPr>
          <p:cNvSpPr txBox="1"/>
          <p:nvPr/>
        </p:nvSpPr>
        <p:spPr>
          <a:xfrm>
            <a:off x="0" y="1651000"/>
            <a:ext cx="1219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 b="1">
                <a:solidFill>
                  <a:srgbClr val="FF5C33"/>
                </a:solidFill>
                <a:latin typeface="Segoe UI" panose="020B0502040204020203" pitchFamily="34" charset="0"/>
              </a:rPr>
              <a:t>UNDER THE HOOD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3DD123-3E1E-432F-B9B9-3F2209396F85}"/>
              </a:ext>
            </a:extLst>
          </p:cNvPr>
          <p:cNvSpPr txBox="1"/>
          <p:nvPr/>
        </p:nvSpPr>
        <p:spPr>
          <a:xfrm>
            <a:off x="0" y="2540000"/>
            <a:ext cx="1219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3400" b="1">
                <a:solidFill>
                  <a:srgbClr val="E8EDF2"/>
                </a:solidFill>
                <a:latin typeface="Segoe UI" panose="020B0502040204020203" pitchFamily="34" charset="0"/>
              </a:rPr>
              <a:t>Angular  -&gt;  FastAPI  -&gt;  Bright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CFA71-179A-4965-AECC-7E7090C05D2E}"/>
              </a:ext>
            </a:extLst>
          </p:cNvPr>
          <p:cNvSpPr txBox="1"/>
          <p:nvPr/>
        </p:nvSpPr>
        <p:spPr>
          <a:xfrm>
            <a:off x="0" y="381000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>
                <a:solidFill>
                  <a:srgbClr val="8B97A5"/>
                </a:solidFill>
                <a:latin typeface="Segoe UI" panose="020B0502040204020203" pitchFamily="34" charset="0"/>
              </a:rPr>
              <a:t>Web Unlocker scrapes the data; light &amp; dark themes included.</a:t>
            </a:r>
            <a:endParaRPr lang="en-IN">
              <a:solidFill>
                <a:srgbClr val="8B97A5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slide8">
            <a:hlinkClick r:id="" action="ppaction://media"/>
            <a:extLst>
              <a:ext uri="{FF2B5EF4-FFF2-40B4-BE49-F238E27FC236}">
                <a16:creationId xmlns:a16="http://schemas.microsoft.com/office/drawing/2014/main" id="{7C486A6C-4FB7-401C-86C9-FCD24A243E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4" y="3184524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5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2220"/>
    </mc:Choice>
    <mc:Fallback>
      <p:transition spd="slow" advClick="0" advTm="122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2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FDCC37-DD23-4CC1-A6DA-14250F2C434D}"/>
              </a:ext>
            </a:extLst>
          </p:cNvPr>
          <p:cNvSpPr txBox="1"/>
          <p:nvPr/>
        </p:nvSpPr>
        <p:spPr>
          <a:xfrm>
            <a:off x="0" y="1651000"/>
            <a:ext cx="1219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600" b="1">
                <a:solidFill>
                  <a:srgbClr val="FF5C33"/>
                </a:solidFill>
                <a:latin typeface="Segoe UI" panose="020B0502040204020203" pitchFamily="34" charset="0"/>
              </a:rPr>
              <a:t>BUILT WITH BRIGHT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54A828-4EAA-4C53-AE6C-4115B2281C25}"/>
              </a:ext>
            </a:extLst>
          </p:cNvPr>
          <p:cNvSpPr txBox="1"/>
          <p:nvPr/>
        </p:nvSpPr>
        <p:spPr>
          <a:xfrm>
            <a:off x="0" y="2286000"/>
            <a:ext cx="12192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4400" b="1">
                <a:solidFill>
                  <a:srgbClr val="E8EDF2"/>
                </a:solidFill>
                <a:latin typeface="Segoe UI" panose="020B0502040204020203" pitchFamily="34" charset="0"/>
              </a:rPr>
              <a:t>Thanks for watching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40C60B-DF32-4610-97B1-880FEC33AB20}"/>
              </a:ext>
            </a:extLst>
          </p:cNvPr>
          <p:cNvSpPr txBox="1"/>
          <p:nvPr/>
        </p:nvSpPr>
        <p:spPr>
          <a:xfrm>
            <a:off x="0" y="3492500"/>
            <a:ext cx="1219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000">
                <a:solidFill>
                  <a:srgbClr val="33B1FF"/>
                </a:solidFill>
                <a:latin typeface="Segoe UI" panose="020B0502040204020203" pitchFamily="34" charset="0"/>
              </a:rPr>
              <a:t>battle-bots-hackathon.vercel.app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14D54C-CC33-492C-A19F-220FDEFE28AE}"/>
              </a:ext>
            </a:extLst>
          </p:cNvPr>
          <p:cNvSpPr txBox="1"/>
          <p:nvPr/>
        </p:nvSpPr>
        <p:spPr>
          <a:xfrm>
            <a:off x="0" y="3911600"/>
            <a:ext cx="1219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000">
                <a:solidFill>
                  <a:srgbClr val="33B1FF"/>
                </a:solidFill>
                <a:latin typeface="Segoe UI" panose="020B0502040204020203" pitchFamily="34" charset="0"/>
              </a:rPr>
              <a:t>github.com/kaushalkarkar/BattleBotsHackathon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5B4772-36E5-4F8D-83B0-754C700FAFFB}"/>
              </a:ext>
            </a:extLst>
          </p:cNvPr>
          <p:cNvSpPr/>
          <p:nvPr/>
        </p:nvSpPr>
        <p:spPr>
          <a:xfrm>
            <a:off x="4826000" y="4572000"/>
            <a:ext cx="2540000" cy="584200"/>
          </a:xfrm>
          <a:prstGeom prst="roundRect">
            <a:avLst/>
          </a:prstGeom>
          <a:noFill/>
          <a:ln w="12700" cap="flat" cmpd="sng" algn="ctr">
            <a:solidFill>
              <a:srgbClr val="FF5C3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00D0B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2507C4-D38C-4B7E-B305-638C886BF5C7}"/>
              </a:ext>
            </a:extLst>
          </p:cNvPr>
          <p:cNvSpPr txBox="1"/>
          <p:nvPr/>
        </p:nvSpPr>
        <p:spPr>
          <a:xfrm>
            <a:off x="4826000" y="4699000"/>
            <a:ext cx="254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b="1">
                <a:solidFill>
                  <a:srgbClr val="FF5C33"/>
                </a:solidFill>
                <a:latin typeface="Segoe UI" panose="020B0502040204020203" pitchFamily="34" charset="0"/>
              </a:rPr>
              <a:t>#BattleBotsDev</a:t>
            </a:r>
          </a:p>
        </p:txBody>
      </p:sp>
      <p:pic>
        <p:nvPicPr>
          <p:cNvPr id="8" name="slide9">
            <a:hlinkClick r:id="" action="ppaction://media"/>
            <a:extLst>
              <a:ext uri="{FF2B5EF4-FFF2-40B4-BE49-F238E27FC236}">
                <a16:creationId xmlns:a16="http://schemas.microsoft.com/office/drawing/2014/main" id="{6323933C-3B1F-45DE-B33D-63A017D302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4" y="3184524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3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9140"/>
    </mc:Choice>
    <mc:Fallback>
      <p:transition spd="slow" advClick="0" advTm="91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4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Custom</PresentationFormat>
  <Paragraphs>58</Paragraphs>
  <Slides>9</Slides>
  <Notes>0</Notes>
  <HiddenSlides>0</HiddenSlides>
  <MMClips>9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kaushal</dc:creator>
  <cp:lastModifiedBy>kaushal</cp:lastModifiedBy>
  <cp:revision>1</cp:revision>
  <dcterms:created xsi:type="dcterms:W3CDTF">2026-07-28T16:28:00Z</dcterms:created>
  <dcterms:modified xsi:type="dcterms:W3CDTF">2026-07-28T16:28:00Z</dcterms:modified>
</cp:coreProperties>
</file>